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bf7549db5402c" /><Relationship Type="http://schemas.openxmlformats.org/officeDocument/2006/relationships/extended-properties" Target="/docProps/app.xml" Id="Rbfe2cccb37134b0b" /><Relationship Type="http://schemas.openxmlformats.org/officeDocument/2006/relationships/officeDocument" Target="/ppt/presentation.xml" Id="Rd45a361aa21e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b1c06cfe34f72"/>
  </p:sldMasterIdLst>
  <p:notesMasterIdLst>
    <p:notesMasterId xmlns:r="http://schemas.openxmlformats.org/officeDocument/2006/relationships" r:id="R7ff5c9eec41e4f4f"/>
  </p:notesMasterIdLst>
  <p:sldIdLst>
    <p:sldId xmlns:r="http://schemas.openxmlformats.org/officeDocument/2006/relationships" id="256" r:id="R5c0373d61fca4ebe"/>
    <p:sldId xmlns:r="http://schemas.openxmlformats.org/officeDocument/2006/relationships" id="257" r:id="Rc93d3f4b44ca4f67"/>
    <p:sldId xmlns:r="http://schemas.openxmlformats.org/officeDocument/2006/relationships" id="258" r:id="R456dfe6a2b5b46c1"/>
    <p:sldId xmlns:r="http://schemas.openxmlformats.org/officeDocument/2006/relationships" id="259" r:id="R4d81bec02a554fd4"/>
    <p:sldId xmlns:r="http://schemas.openxmlformats.org/officeDocument/2006/relationships" id="260" r:id="R2853bfa8e0eb4f5c"/>
    <p:sldId xmlns:r="http://schemas.openxmlformats.org/officeDocument/2006/relationships" id="261" r:id="R95f7fcf14dab4aba"/>
    <p:sldId xmlns:r="http://schemas.openxmlformats.org/officeDocument/2006/relationships" id="262" r:id="R795538d4bf10406e"/>
    <p:sldId xmlns:r="http://schemas.openxmlformats.org/officeDocument/2006/relationships" id="263" r:id="R92a60784fe1c43d5"/>
    <p:sldId xmlns:r="http://schemas.openxmlformats.org/officeDocument/2006/relationships" id="264" r:id="R36f8eaf5ec5c4163"/>
    <p:sldId xmlns:r="http://schemas.openxmlformats.org/officeDocument/2006/relationships" id="265" r:id="R4c5a2690dd144aa6"/>
    <p:sldId xmlns:r="http://schemas.openxmlformats.org/officeDocument/2006/relationships" id="266" r:id="Rb68c9f10f5c74dc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5d0b2651848db" /><Relationship Type="http://schemas.openxmlformats.org/officeDocument/2006/relationships/slideMaster" Target="/ppt/slideMasters/slideMaster1.xml" Id="R326b1c06cfe34f72" /><Relationship Type="http://schemas.openxmlformats.org/officeDocument/2006/relationships/notesMaster" Target="/ppt/notesMasters/notesMaster1.xml" Id="R7ff5c9eec41e4f4f" /><Relationship Type="http://schemas.openxmlformats.org/officeDocument/2006/relationships/presProps" Target="/ppt/presProps.xml" Id="Ra01ca3e8933f425f" /><Relationship Type="http://schemas.openxmlformats.org/officeDocument/2006/relationships/tableStyles" Target="/ppt/tableStyles.xml" Id="Rfb7fdf7951714aa8" /><Relationship Type="http://schemas.openxmlformats.org/officeDocument/2006/relationships/slide" Target="/ppt/slides/slide1.xml" Id="R5c0373d61fca4ebe" /><Relationship Type="http://schemas.openxmlformats.org/officeDocument/2006/relationships/slide" Target="/ppt/slides/slide2.xml" Id="Rc93d3f4b44ca4f67" /><Relationship Type="http://schemas.openxmlformats.org/officeDocument/2006/relationships/slide" Target="/ppt/slides/slide3.xml" Id="R456dfe6a2b5b46c1" /><Relationship Type="http://schemas.openxmlformats.org/officeDocument/2006/relationships/slide" Target="/ppt/slides/slide4.xml" Id="R4d81bec02a554fd4" /><Relationship Type="http://schemas.openxmlformats.org/officeDocument/2006/relationships/slide" Target="/ppt/slides/slide5.xml" Id="R2853bfa8e0eb4f5c" /><Relationship Type="http://schemas.openxmlformats.org/officeDocument/2006/relationships/slide" Target="/ppt/slides/slide6.xml" Id="R95f7fcf14dab4aba" /><Relationship Type="http://schemas.openxmlformats.org/officeDocument/2006/relationships/slide" Target="/ppt/slides/slide7.xml" Id="R795538d4bf10406e" /><Relationship Type="http://schemas.openxmlformats.org/officeDocument/2006/relationships/slide" Target="/ppt/slides/slide8.xml" Id="R92a60784fe1c43d5" /><Relationship Type="http://schemas.openxmlformats.org/officeDocument/2006/relationships/slide" Target="/ppt/slides/slide9.xml" Id="R36f8eaf5ec5c4163" /><Relationship Type="http://schemas.openxmlformats.org/officeDocument/2006/relationships/slide" Target="/ppt/slides/slide10.xml" Id="R4c5a2690dd144aa6" /><Relationship Type="http://schemas.openxmlformats.org/officeDocument/2006/relationships/slide" Target="/ppt/slides/slide11.xml" Id="Rb68c9f10f5c74d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2803874a1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33205f0664ff9" /><Relationship Type="http://schemas.openxmlformats.org/officeDocument/2006/relationships/notesMaster" Target="/ppt/notesMasters/notesMaster1.xml" Id="R51aa3abc0362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c9d0a5d174f6c" /><Relationship Type="http://schemas.openxmlformats.org/officeDocument/2006/relationships/notesMaster" Target="/ppt/notesMasters/notesMaster1.xml" Id="Re8fcd512498f42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b144001744c6d" /><Relationship Type="http://schemas.openxmlformats.org/officeDocument/2006/relationships/notesMaster" Target="/ppt/notesMasters/notesMaster1.xml" Id="Red07aafe134e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b8f9b94cc4e37" /><Relationship Type="http://schemas.openxmlformats.org/officeDocument/2006/relationships/notesMaster" Target="/ppt/notesMasters/notesMaster1.xml" Id="Rf1f1d7d0262e42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dfd7f1b3cc4793" /><Relationship Type="http://schemas.openxmlformats.org/officeDocument/2006/relationships/notesMaster" Target="/ppt/notesMasters/notesMaster1.xml" Id="R0d462b29425743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34e5372e04988" /><Relationship Type="http://schemas.openxmlformats.org/officeDocument/2006/relationships/notesMaster" Target="/ppt/notesMasters/notesMaster1.xml" Id="R62474a9ad9f743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40e06935ef498e" /><Relationship Type="http://schemas.openxmlformats.org/officeDocument/2006/relationships/notesMaster" Target="/ppt/notesMasters/notesMaster1.xml" Id="R507355ff74b146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6a75c4c4bd4e1c" /><Relationship Type="http://schemas.openxmlformats.org/officeDocument/2006/relationships/notesMaster" Target="/ppt/notesMasters/notesMaster1.xml" Id="Rb64c64fae76c46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d0762bf6104e6d" /><Relationship Type="http://schemas.openxmlformats.org/officeDocument/2006/relationships/notesMaster" Target="/ppt/notesMasters/notesMaster1.xml" Id="R22e9bf77aa7a4b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2f8b490aa4bcf" /><Relationship Type="http://schemas.openxmlformats.org/officeDocument/2006/relationships/notesMaster" Target="/ppt/notesMasters/notesMaster1.xml" Id="Rd89b10f9764a45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ddddaf2e9a4f67" /><Relationship Type="http://schemas.openxmlformats.org/officeDocument/2006/relationships/notesMaster" Target="/ppt/notesMasters/notesMaster1.xml" Id="R50b5516faaa6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ba95472e045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2112fc38b4e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961961da844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713aacdeb45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1fc97b38543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44aa00be94d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8a132b44649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dbc84290349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1bf54437141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73df562c94f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98336cea0476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C6463C2-C8FE-4EA8-B2B0-CBB5677C2A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DCD7A39-6194-41D4-9BAD-2ED5456214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5D95356-BE72-44EA-ABE1-AD29991DA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768C2C2-7EC4-4B47-85AC-74885587E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D0547729-2B5E-436C-ADCB-563C3A59BD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93DBC657-74A0-4110-A95F-A80131590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21F5937-A709-4821-A9D2-7A2978749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6EF65A80-CAAD-4BED-A091-E162C6B852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B4E7268-977F-4487-BA21-7B22D4C78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79E1BEF8-7AAD-49CE-BEEB-96851703E9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4F4A7B4-C965-4552-B251-9136CB0BD9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9CFAE833-DDBD-41B4-B334-C51AC03606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B24E6518-654B-4E94-8CE6-AF7BACDE0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5845D77-DC47-4667-9807-D4B1822FC3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BB8EB14-B838-432C-8E50-B0E00531C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D0B0699C-88AC-49E9-82FA-70BA727A29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FBEF4F49-D139-4B8C-B05F-DD7E4F25ED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1B17107-C46C-457B-ABB2-1EBD863AD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5F2787F4-2AFD-45EA-8430-67A2770C5C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67AE2B9-420E-4D46-BFAF-00E6A211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6193908A-2B53-4726-9F1E-62EF4B856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772CE8B-E731-4A09-941B-93D7EBA61D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732AC86D-B33D-4397-BF91-8963743F01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F66CEA0-F253-44F0-92BE-0D0BF37691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0993C667-4C6C-444B-9092-597082008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4CAE387-ABFD-4074-887E-776176A10E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D9869FF-ECE6-41F0-8D8D-CA3AB082620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E08828F-897D-4CE2-8AC8-55A67A50B2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4289CD2D-E553-4326-8285-5227CFA99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7FE6B485-A2CD-40A2-82B7-925C33420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47ec0c4004f10" /><Relationship Type="http://schemas.openxmlformats.org/officeDocument/2006/relationships/slideLayout" Target="/ppt/slideLayouts/slideLayout1.xml" Id="Rce4dfc66c6dd4703" /><Relationship Type="http://schemas.openxmlformats.org/officeDocument/2006/relationships/slideLayout" Target="/ppt/slideLayouts/slideLayout2.xml" Id="R813f802f3c4f4310" /><Relationship Type="http://schemas.openxmlformats.org/officeDocument/2006/relationships/slideLayout" Target="/ppt/slideLayouts/slideLayout3.xml" Id="R8cc217bd5c9e4ec7" /><Relationship Type="http://schemas.openxmlformats.org/officeDocument/2006/relationships/slideLayout" Target="/ppt/slideLayouts/slideLayout4.xml" Id="R8dfbc92d02024b68" /><Relationship Type="http://schemas.openxmlformats.org/officeDocument/2006/relationships/slideLayout" Target="/ppt/slideLayouts/slideLayout5.xml" Id="R4d4989aba8a94bbc" /><Relationship Type="http://schemas.openxmlformats.org/officeDocument/2006/relationships/slideLayout" Target="/ppt/slideLayouts/slideLayout6.xml" Id="R4f6e57c7823c4b39" /><Relationship Type="http://schemas.openxmlformats.org/officeDocument/2006/relationships/slideLayout" Target="/ppt/slideLayouts/slideLayout7.xml" Id="R030a3f307a484932" /><Relationship Type="http://schemas.openxmlformats.org/officeDocument/2006/relationships/slideLayout" Target="/ppt/slideLayouts/slideLayout8.xml" Id="R236fac7405fe4074" /><Relationship Type="http://schemas.openxmlformats.org/officeDocument/2006/relationships/slideLayout" Target="/ppt/slideLayouts/slideLayout9.xml" Id="R2d719ee7a3ec4e46" /><Relationship Type="http://schemas.openxmlformats.org/officeDocument/2006/relationships/slideLayout" Target="/ppt/slideLayouts/slideLayout10.xml" Id="Rfdab0c5ef25a4b93" /><Relationship Type="http://schemas.openxmlformats.org/officeDocument/2006/relationships/slideLayout" Target="/ppt/slideLayouts/slideLayout11.xml" Id="R08eaf52d69ba41b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9CF768F-4BB1-4B4C-9BD0-20EDEB24D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CFD2C8E7-E73E-44C0-A5CC-F302791A7A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AAB8139-40C2-47B4-B3B2-8FBED565E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dfc66c6dd4703"/>
    <p:sldLayoutId xmlns:r="http://schemas.openxmlformats.org/officeDocument/2006/relationships" id="2147483650" r:id="R813f802f3c4f4310"/>
    <p:sldLayoutId xmlns:r="http://schemas.openxmlformats.org/officeDocument/2006/relationships" id="2147483651" r:id="R8cc217bd5c9e4ec7"/>
    <p:sldLayoutId xmlns:r="http://schemas.openxmlformats.org/officeDocument/2006/relationships" id="2147483652" r:id="R8dfbc92d02024b68"/>
    <p:sldLayoutId xmlns:r="http://schemas.openxmlformats.org/officeDocument/2006/relationships" id="2147483653" r:id="R4d4989aba8a94bbc"/>
    <p:sldLayoutId xmlns:r="http://schemas.openxmlformats.org/officeDocument/2006/relationships" id="2147483654" r:id="R4f6e57c7823c4b39"/>
    <p:sldLayoutId xmlns:r="http://schemas.openxmlformats.org/officeDocument/2006/relationships" id="2147483655" r:id="R030a3f307a484932"/>
    <p:sldLayoutId xmlns:r="http://schemas.openxmlformats.org/officeDocument/2006/relationships" id="2147483656" r:id="R236fac7405fe4074"/>
    <p:sldLayoutId xmlns:r="http://schemas.openxmlformats.org/officeDocument/2006/relationships" id="2147483657" r:id="R2d719ee7a3ec4e46"/>
    <p:sldLayoutId xmlns:r="http://schemas.openxmlformats.org/officeDocument/2006/relationships" id="2147483658" r:id="Rfdab0c5ef25a4b93"/>
    <p:sldLayoutId xmlns:r="http://schemas.openxmlformats.org/officeDocument/2006/relationships" id="2147483659" r:id="R08eaf52d69ba41b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2a19d60b4204ff1" /><Relationship Type="http://schemas.openxmlformats.org/officeDocument/2006/relationships/image" Target="/ppt/media/image.png" Id="R3403280e907841c6" /><Relationship Type="http://schemas.openxmlformats.org/officeDocument/2006/relationships/notesSlide" Target="/ppt/notesSlides/notesSlide1.xml" Id="R16c45b5b5c8f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d0eb0486ae34f32" /><Relationship Type="http://schemas.openxmlformats.org/officeDocument/2006/relationships/image" Target="/ppt/media/image2.png" Id="R9ba8703026cc48ee" /><Relationship Type="http://schemas.openxmlformats.org/officeDocument/2006/relationships/notesSlide" Target="/ppt/notesSlides/notesSlide2.xml" Id="R7117562f959a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54ade854ac64f84" /><Relationship Type="http://schemas.openxmlformats.org/officeDocument/2006/relationships/image" Target="/ppt/media/image2.png" Id="R8643c124dfba4e60" /><Relationship Type="http://schemas.openxmlformats.org/officeDocument/2006/relationships/notesSlide" Target="/ppt/notesSlides/notesSlide3.xml" Id="R139dcb394d804e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837aff85c25485c" /><Relationship Type="http://schemas.openxmlformats.org/officeDocument/2006/relationships/image" Target="/ppt/media/image2.png" Id="R2537c5a4fd524191" /><Relationship Type="http://schemas.openxmlformats.org/officeDocument/2006/relationships/notesSlide" Target="/ppt/notesSlides/notesSlide4.xml" Id="R4dfdee294c4a49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fc4d6137984ba8" /><Relationship Type="http://schemas.openxmlformats.org/officeDocument/2006/relationships/image" Target="/ppt/media/image2.png" Id="R7eb79087cdff4114" /><Relationship Type="http://schemas.openxmlformats.org/officeDocument/2006/relationships/notesSlide" Target="/ppt/notesSlides/notesSlide5.xml" Id="R1abb46427b6c4c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24dde9c330e4dbf" /><Relationship Type="http://schemas.openxmlformats.org/officeDocument/2006/relationships/image" Target="/ppt/media/image2.png" Id="Rbdb1e8ea218c4c4d" /><Relationship Type="http://schemas.openxmlformats.org/officeDocument/2006/relationships/notesSlide" Target="/ppt/notesSlides/notesSlide6.xml" Id="Ra6b9ed35d816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e7b5c25aa864bea" /><Relationship Type="http://schemas.openxmlformats.org/officeDocument/2006/relationships/image" Target="/ppt/media/image2.png" Id="R2eaf83f0047a4f57" /><Relationship Type="http://schemas.openxmlformats.org/officeDocument/2006/relationships/notesSlide" Target="/ppt/notesSlides/notesSlide7.xml" Id="Rf65de38a817e48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1e6f385ab754921" /><Relationship Type="http://schemas.openxmlformats.org/officeDocument/2006/relationships/image" Target="/ppt/media/image2.png" Id="R1160c582eabd4198" /><Relationship Type="http://schemas.openxmlformats.org/officeDocument/2006/relationships/notesSlide" Target="/ppt/notesSlides/notesSlide8.xml" Id="Rd1c852a289cc4f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30f15e794614016" /><Relationship Type="http://schemas.openxmlformats.org/officeDocument/2006/relationships/image" Target="/ppt/media/image2.png" Id="Refee4bc0b9f74f82" /><Relationship Type="http://schemas.openxmlformats.org/officeDocument/2006/relationships/notesSlide" Target="/ppt/notesSlides/notesSlide9.xml" Id="R514f02c215d947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cff7e04c804bec" /><Relationship Type="http://schemas.openxmlformats.org/officeDocument/2006/relationships/image" Target="/ppt/media/image2.png" Id="Ra859ca950b494584" /><Relationship Type="http://schemas.openxmlformats.org/officeDocument/2006/relationships/notesSlide" Target="/ppt/notesSlides/notesSlide10.xml" Id="R8003e9ee182a49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503ba9e1d89491a" /><Relationship Type="http://schemas.openxmlformats.org/officeDocument/2006/relationships/image" Target="/ppt/media/image3.png" Id="R38679c418e6d4df9" /><Relationship Type="http://schemas.openxmlformats.org/officeDocument/2006/relationships/notesSlide" Target="/ppt/notesSlides/notesSlide11.xml" Id="R5a351004998145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Google Shape;5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3280e907841c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19F7FAFA-308A-4679-96F1-66B7354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3065023"/>
            <a:ext cx="8520600" cy="4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Name: RightWing</a:t>
            </a: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4543EDC6-2D2F-455A-BC37-9E1A996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" y="3916185"/>
            <a:ext cx="85206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8854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Problem Statement: Intelligent Candidate Discovery - rank candidates the way a strong recruiter would, beyond keyword matching.</a:t>
            </a: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0DFFA32F-D497-4A39-AB1A-25E7A899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88" y="3472483"/>
            <a:ext cx="8520600" cy="4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Leader Name: Aarav Gupta</a:t>
            </a:r>
          </a:p>
        </p:txBody>
      </p:sp>
    </p:spTree>
    <p:extLst>
      <p:ext uri="{BB962C8B-B14F-4D97-AF65-F5344CB8AC3E}">
        <p14:creationId xmlns:p14="http://schemas.microsoft.com/office/powerpoint/2010/main" val="13307819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6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a8703026cc48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7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73878204-22D0-477C-B229-00BD19A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24030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Solution Overview</a:t>
            </a:r>
          </a:p>
        </p:txBody>
      </p:sp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BC7AB165-F9E7-48B5-9871-8D7BFC7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512"/>
            <a:ext cx="8520600" cy="32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RecruiterLens is a CPU-only candidate ranking system for Redrob's Senior AI Engineer role.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It builds an evidence graph from career history, skills, behavioral signals, logistics, and risk flags.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Career evidence outranks keyword overlap: shipped search, ranking, retrieval, and recommendation work matters most.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Trust-weighted skills use proficiency, duration, endorsements, and assessment scores.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Risk gates suppress keyword stuffers, services-only profiles, CV/speech-only profiles, and honeypot-style impossibilities.</a:t>
            </a:r>
          </a:p>
        </p:txBody>
      </p:sp>
    </p:spTree>
    <p:extLst>
      <p:ext uri="{BB962C8B-B14F-4D97-AF65-F5344CB8AC3E}">
        <p14:creationId xmlns:p14="http://schemas.microsoft.com/office/powerpoint/2010/main" val="13958004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43c124dfba4e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47D9C0D-7461-48B2-AB96-1777F28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JD Understanding &amp; Candidate Evaluation</a:t>
            </a:r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EBB20CE-E3BA-491B-B83D-E8EC16D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Target profile: 5-9 years, senior IC judgment, strong Python, product-company ML depth, and shipping bias.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Must-have evidence: production retrieval/search/ranking/recommendation systems, evaluation frameworks, and vector or hybrid search exposure.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Important logistics: Pune/Noida preferred, Indian tier-1 cities welcome, hybrid/flexible availability, and shorter notice periods.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Negative evidence: pure research, recent framework-only LLM demos, non-technical current roles, services-only careers, and unsupported skill stuffing.</a:t>
            </a:r>
          </a:p>
        </p:txBody>
      </p:sp>
    </p:spTree>
    <p:extLst>
      <p:ext uri="{BB962C8B-B14F-4D97-AF65-F5344CB8AC3E}">
        <p14:creationId xmlns:p14="http://schemas.microsoft.com/office/powerpoint/2010/main" val="13234894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Google Shape;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37c5a4fd5241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2F939E3C-7E49-455D-B877-F397E3DF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Ranking Methodology</a:t>
            </a:r>
          </a:p>
        </p:txBody>
      </p:sp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A21D4E36-CCD3-4F76-A468-5935333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Stream candidates from JSONL and compute deterministic feature panels per profile.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Score career evidence, current role fit, trusted skill evidence, experience band, company context, logistics, and behavioral availability.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Apply hard caps when evidence is missing: skills alone cannot make a candidate top-tier.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Sort by final score with deterministic tie-breaks, then generate one fact-grounded reason per selected candidate.</a:t>
            </a:r>
          </a:p>
        </p:txBody>
      </p:sp>
    </p:spTree>
    <p:extLst>
      <p:ext uri="{BB962C8B-B14F-4D97-AF65-F5344CB8AC3E}">
        <p14:creationId xmlns:p14="http://schemas.microsoft.com/office/powerpoint/2010/main" val="21068548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Google Shape;8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b79087cdff41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1FB1AB03-9D4C-44A3-8F82-EA4FC71F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Explainability &amp; Data Validation</a:t>
            </a:r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44B50D75-2DEF-4F21-9EB8-2D9443CF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Every row includes a concise reason built only from observed candidate fields: title, years, evidence, response rate, notice, and location.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The diagnostics file exposes component scores and risk flags for auditability.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No LLM generates candidate reasoning during ranking, so there are no hallucinated skills or unsupported claims.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Official validation passes: exactly 100 rows, ranks 1-100, unique IDs, and non-increasing scores.</a:t>
            </a:r>
          </a:p>
        </p:txBody>
      </p:sp>
    </p:spTree>
    <p:extLst>
      <p:ext uri="{BB962C8B-B14F-4D97-AF65-F5344CB8AC3E}">
        <p14:creationId xmlns:p14="http://schemas.microsoft.com/office/powerpoint/2010/main" val="1041772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4" name="Google Shape;9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b1e8ea218c4c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8">
            <a:extLst xmlns:a="http://schemas.openxmlformats.org/drawingml/2006/main">
              <a:ext uri="{FF2B5EF4-FFF2-40B4-BE49-F238E27FC236}">
                <a16:creationId xmlns:a16="http://schemas.microsoft.com/office/drawing/2014/main" id="{0E7A735B-A8D9-4A76-B9A7-48DEF61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End-to-End Workflow</a:t>
            </a:r>
          </a:p>
        </p:txBody>
      </p:sp>
      <p:sp>
        <p:nvSp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DC00564B-B620-4692-84C5-AA796C82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Read JD and candidate schema, then encode the role as a recruiter-lens scoring rubric.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Stream 100,000 JSONL profiles through feature extractors and risk gates.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Rank top 100 candidates and emit CSV with candidate_id, rank, score, and reasoning.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Validate with the bundled challenge script; export a matching XLSX for the portal.</a:t>
            </a:r>
          </a:p>
        </p:txBody>
      </p:sp>
    </p:spTree>
    <p:extLst>
      <p:ext uri="{BB962C8B-B14F-4D97-AF65-F5344CB8AC3E}">
        <p14:creationId xmlns:p14="http://schemas.microsoft.com/office/powerpoint/2010/main" val="8935106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Google Shape;97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af83f0047a4f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8" name="Google Shape;98;p19">
            <a:extLst xmlns:a="http://schemas.openxmlformats.org/drawingml/2006/main">
              <a:ext uri="{FF2B5EF4-FFF2-40B4-BE49-F238E27FC236}">
                <a16:creationId xmlns:a16="http://schemas.microsoft.com/office/drawing/2014/main" id="{5D9EA431-B058-4E87-A896-899B67C7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System Architecture</a:t>
            </a:r>
          </a:p>
        </p:txBody>
      </p:sp>
      <p:sp>
        <p:nvSpPr>
          <p:cNvPr id="100" name="architecture-body">
            <a:extLst xmlns:a="http://schemas.openxmlformats.org/drawingml/2006/main">
              <a:ext uri="{FF2B5EF4-FFF2-40B4-BE49-F238E27FC236}">
                <a16:creationId xmlns:a16="http://schemas.microsoft.com/office/drawing/2014/main" id="{A3639DB8-47FA-498E-B3A5-44C2B8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36" y="1278541"/>
            <a:ext cx="8121587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JD Lens -&gt; structured requirements: must-haves, nice-to-haves, negative evidence, logistics</a:t>
            </a:r>
          </a:p>
          <a:p xmlns:a="http://schemas.openxmlformats.org/drawingml/2006/main">
            <a:pPr>
              <a:def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Candidate Parser -&gt; career roles, descriptions, skills, education, and Redrob behavioral signals</a:t>
            </a:r>
          </a:p>
          <a:p xmlns:a="http://schemas.openxmlformats.org/drawingml/2006/main">
            <a:pPr>
              <a:def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Evidence Scorers -&gt; career fit, role fit, trusted skills, product context, experience, logistics, behavior</a:t>
            </a:r>
          </a:p>
          <a:p xmlns:a="http://schemas.openxmlformats.org/drawingml/2006/main">
            <a:pPr>
              <a:def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Risk Gates -&gt; keyword stuffing, non-technical current role, services-only path, impossible timelines</a:t>
            </a:r>
          </a:p>
          <a:p xmlns:a="http://schemas.openxmlformats.org/drawingml/2006/main">
            <a:pPr>
              <a:def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365" b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Ranker + Reasoner -&gt; deterministic top-100 CSV/XLSX with audit-ready candidate explanations</a:t>
            </a:r>
          </a:p>
        </p:txBody>
      </p:sp>
    </p:spTree>
    <p:extLst>
      <p:ext uri="{BB962C8B-B14F-4D97-AF65-F5344CB8AC3E}">
        <p14:creationId xmlns:p14="http://schemas.microsoft.com/office/powerpoint/2010/main" val="13787964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7" name="Google Shape;10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60c582eabd41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20">
            <a:extLst xmlns:a="http://schemas.openxmlformats.org/drawingml/2006/main">
              <a:ext uri="{FF2B5EF4-FFF2-40B4-BE49-F238E27FC236}">
                <a16:creationId xmlns:a16="http://schemas.microsoft.com/office/drawing/2014/main" id="{FD80E3F7-8C12-4172-9B22-16F53B4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Results &amp; Performance</a:t>
            </a:r>
          </a:p>
        </p:txBody>
      </p:sp>
      <p:sp>
        <p:nvSpPr>
          <p:cNvPr id="105" name="Google Shape;105;p20">
            <a:extLst xmlns:a="http://schemas.openxmlformats.org/drawingml/2006/main">
              <a:ext uri="{FF2B5EF4-FFF2-40B4-BE49-F238E27FC236}">
                <a16:creationId xmlns:a16="http://schemas.microsoft.com/office/drawing/2014/main" id="{D0620B32-8A50-417B-AF1D-A7C81310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Full 100,000-candidate run completes in about 90 seconds on local CPU in this workspace.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The official CSV validator passes without format, rank, duplicate, or score-order issues.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Top results are dominated by candidates with shipped ranking/search/retrieval/recommendation systems, not generic AI keyword lists.</a:t>
            </a:r>
          </a:p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The ranker uses no network, hosted APIs, GPU, or model downloads during inference.</a:t>
            </a:r>
          </a:p>
        </p:txBody>
      </p:sp>
    </p:spTree>
    <p:extLst>
      <p:ext uri="{BB962C8B-B14F-4D97-AF65-F5344CB8AC3E}">
        <p14:creationId xmlns:p14="http://schemas.microsoft.com/office/powerpoint/2010/main" val="5643465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4" name="Google Shape;11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ee4bc0b9f74f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Google Shape;111;p21">
            <a:extLst xmlns:a="http://schemas.openxmlformats.org/drawingml/2006/main">
              <a:ext uri="{FF2B5EF4-FFF2-40B4-BE49-F238E27FC236}">
                <a16:creationId xmlns:a16="http://schemas.microsoft.com/office/drawing/2014/main" id="{E4EDBD64-E4BF-4786-83F4-D854B7A6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Technologies Used</a:t>
            </a:r>
          </a:p>
        </p:txBody>
      </p:sp>
      <p:sp>
        <p:nvSpPr>
          <p:cNvPr id="112" name="Google Shape;112;p21">
            <a:extLst xmlns:a="http://schemas.openxmlformats.org/drawingml/2006/main">
              <a:ext uri="{FF2B5EF4-FFF2-40B4-BE49-F238E27FC236}">
                <a16:creationId xmlns:a16="http://schemas.microsoft.com/office/drawing/2014/main" id="{5FEAF6F9-88B7-404C-9480-76FC8E56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00" y="1278496"/>
            <a:ext cx="8520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1527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Python standard library for the reproducible ranker: json, csv, datetime, regex, dataclasses, and unittest.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Deterministic evidence dictionaries and risk gates instead of per-candidate LLM calls.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Artifact-tool used only for submission artifacts: XLSX formatting and PPTX generation.</a:t>
            </a:r>
          </a:p>
          <a:p xmlns:a="http://schemas.openxmlformats.org/drawingml/2006/main">
            <a:pPr marL="45720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No heavy dependencies keeps Stage 3 reproduction simple under the 5-minute CPU/no-network constraint.</a:t>
            </a:r>
          </a:p>
        </p:txBody>
      </p:sp>
    </p:spTree>
    <p:extLst>
      <p:ext uri="{BB962C8B-B14F-4D97-AF65-F5344CB8AC3E}">
        <p14:creationId xmlns:p14="http://schemas.microsoft.com/office/powerpoint/2010/main" val="3825154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1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59ca950b4945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7" cy="5143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2">
            <a:extLst xmlns:a="http://schemas.openxmlformats.org/drawingml/2006/main">
              <a:ext uri="{FF2B5EF4-FFF2-40B4-BE49-F238E27FC236}">
                <a16:creationId xmlns:a16="http://schemas.microsoft.com/office/drawing/2014/main" id="{C1F2176F-F36B-4538-A9B2-15DA481E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812600"/>
            <a:ext cx="8121600" cy="4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532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</a:rPr>
              <a:t>Submission Assets</a:t>
            </a:r>
          </a:p>
        </p:txBody>
      </p:sp>
      <p:sp>
        <p:nvSpPr>
          <p:cNvPr id="119" name="Google Shape;119;p22">
            <a:extLst xmlns:a="http://schemas.openxmlformats.org/drawingml/2006/main">
              <a:ext uri="{FF2B5EF4-FFF2-40B4-BE49-F238E27FC236}">
                <a16:creationId xmlns:a16="http://schemas.microsoft.com/office/drawing/2014/main" id="{2C0F39F6-7F2D-410A-BE73-5B34D58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0" y="1278500"/>
            <a:ext cx="7968600" cy="319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GitHub repository: https://github.com/aarav06gupta/redrob-recruiter-lens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Reproduce command: python rank.py --candidates ./candidates.jsonl --out ./submission.csv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Ranked outputs: outputs/redrob_submission.csv and outputs/redrob_submission.xlsx.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Audit files: outputs/redrob_diagnostics.csv, README.md, tests, and submission_metadata.yaml.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Sandbox link: TODO - deploy the same command in Hugging Face Spaces, Streamlit Cloud, Replit, Colab, Docker, or Binder.</a:t>
            </a:r>
          </a:p>
        </p:txBody>
      </p:sp>
    </p:spTree>
    <p:extLst>
      <p:ext uri="{BB962C8B-B14F-4D97-AF65-F5344CB8AC3E}">
        <p14:creationId xmlns:p14="http://schemas.microsoft.com/office/powerpoint/2010/main" val="12217320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2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679c418e6d4d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9906224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2026-06-30T06:16:29.0150000Z</dcterms:created>
  <dcterms:modified xsi:type="dcterms:W3CDTF">2026-06-30T06:16:29.0150000Z</dcterms:modified>
</coreProperties>
</file>